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8" y="420624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dirty="0">
                <a:solidFill>
                  <a:srgbClr val="FFFFFF"/>
                </a:solidFill>
                <a:latin typeface="Aptos"/>
              </a:rPr>
              <a:t>Superstore Business Intelligence Final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8" y="1170432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dirty="0">
                <a:solidFill>
                  <a:srgbClr val="E2E8F0"/>
                </a:solidFill>
                <a:latin typeface="Aptos"/>
              </a:rPr>
              <a:t>SQL Server | SSIS | SSAS | Power BI | Excel | MDX | Data Mining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" y="6076188"/>
            <a:ext cx="50749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300" b="1" dirty="0">
                <a:solidFill>
                  <a:schemeClr val="bg1"/>
                </a:solidFill>
                <a:latin typeface="Aptos"/>
              </a:rPr>
              <a:t>Student: Võ Thành Danh - 22520201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42516"/>
            <a:ext cx="50749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300" b="1" dirty="0">
                <a:solidFill>
                  <a:schemeClr val="bg1"/>
                </a:solidFill>
                <a:latin typeface="Aptos"/>
              </a:rPr>
              <a:t>Course: Intelligent Decision Support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93408" y="6076188"/>
            <a:ext cx="50749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300" b="1">
                <a:solidFill>
                  <a:schemeClr val="bg1"/>
                </a:solidFill>
                <a:latin typeface="Aptos"/>
              </a:rPr>
              <a:t>Class: MSIS4263.Q21.CTTT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01468"/>
            <a:ext cx="4700016" cy="566928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300" b="1" dirty="0">
                <a:solidFill>
                  <a:schemeClr val="bg1"/>
                </a:solidFill>
                <a:latin typeface="Aptos"/>
              </a:rPr>
              <a:t>Practice Instructor: Nguyễn Thị Kim Phụng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826764"/>
            <a:ext cx="3200400" cy="566928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400" b="1">
                <a:solidFill>
                  <a:srgbClr val="111827"/>
                </a:solidFill>
                <a:latin typeface="Aptos"/>
              </a:rPr>
              <a:t>One main database: SuperstoreDW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826764"/>
            <a:ext cx="3383280" cy="566928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400" b="1" dirty="0">
                <a:solidFill>
                  <a:srgbClr val="111827"/>
                </a:solidFill>
                <a:latin typeface="Aptos"/>
              </a:rPr>
              <a:t>Star schema centered on </a:t>
            </a:r>
            <a:r>
              <a:rPr sz="1400" b="1" dirty="0" err="1">
                <a:solidFill>
                  <a:srgbClr val="111827"/>
                </a:solidFill>
                <a:latin typeface="Aptos"/>
              </a:rPr>
              <a:t>FactSales</a:t>
            </a:r>
            <a:endParaRPr sz="1400" b="1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79536" y="3877056"/>
            <a:ext cx="2926080" cy="566928"/>
          </a:xfrm>
          <a:prstGeom prst="roundRect">
            <a:avLst/>
          </a:prstGeom>
          <a:solidFill>
            <a:srgbClr val="FFEDD5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400" b="1" dirty="0">
                <a:solidFill>
                  <a:srgbClr val="111827"/>
                </a:solidFill>
                <a:latin typeface="Aptos"/>
              </a:rPr>
              <a:t>Validated data mining rules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End-to-End BI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The submission pipeline loads CSV data into SuperstoreDW and then publishes analytical models.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011680" cy="822960"/>
          </a:xfrm>
          <a:prstGeom prst="roundRect">
            <a:avLst/>
          </a:prstGeom>
          <a:solidFill>
            <a:srgbClr val="FFF7ED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111827"/>
                </a:solidFill>
                <a:latin typeface="Aptos"/>
              </a:rPr>
              <a:t>CSV Source
Sample - Superstore.csv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42032" y="2212848"/>
            <a:ext cx="502920" cy="32004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34639" y="1965960"/>
            <a:ext cx="2011680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111827"/>
                </a:solidFill>
                <a:latin typeface="Aptos"/>
              </a:rPr>
              <a:t>SSIS Landing
SuperstoreDW.dbo.stg_Orders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73752" y="2212848"/>
            <a:ext cx="502920" cy="32004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66359" y="1965960"/>
            <a:ext cx="2011680" cy="82296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111827"/>
                </a:solidFill>
                <a:latin typeface="Aptos"/>
              </a:rPr>
              <a:t>Star Schema
FactSales + Dimensions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12848"/>
            <a:ext cx="502920" cy="32004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79" y="1965960"/>
            <a:ext cx="2011680" cy="82296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111827"/>
                </a:solidFill>
                <a:latin typeface="Aptos"/>
              </a:rPr>
              <a:t>Semantic Layer
SSAS Cube / Power BI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537192" y="2212848"/>
            <a:ext cx="502920" cy="32004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29800" y="1965960"/>
            <a:ext cx="2011680" cy="822960"/>
          </a:xfrm>
          <a:prstGeom prst="roundRect">
            <a:avLst/>
          </a:prstGeom>
          <a:solidFill>
            <a:srgbClr val="FDF2F8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111827"/>
                </a:solidFill>
                <a:latin typeface="Aptos"/>
              </a:rPr>
              <a:t>Consumption
Excel, MDX, Dashboards, Mining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94760"/>
            <a:ext cx="10287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The internal landing table is located inside SuperstoreDW; no separate staging database is used.</a:t>
            </a:r>
          </a:p>
          <a:p>
            <a:pPr>
              <a:spcAft>
                <a:spcPts val="6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FactSales stores measurable order-line events and connects to all dimensions through surrogate keys.</a:t>
            </a:r>
          </a:p>
          <a:p>
            <a:pPr>
              <a:spcAft>
                <a:spcPts val="6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SSAS, Power BI, Excel, and MDX consume the curated analytical layer rather than raw landing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SQL Server: One-Database Warehouse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Evidence that the main submission database is SuperstoreDW.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70332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1_superstoredw_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407" y="1325880"/>
            <a:ext cx="2912345" cy="46634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80560" y="1325880"/>
            <a:ext cx="71780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2_verify_reconcili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773" y="1325880"/>
            <a:ext cx="4691613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7720" y="4343400"/>
            <a:ext cx="6858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dbo.stg_Orders is an internal landing table for raw CSV rows.</a:t>
            </a:r>
          </a:p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FactSales contains the analytical measures: Sales, Quantity, Discount, Profit, and DeliveryDays.</a:t>
            </a:r>
          </a:p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Verification confirms row-count and measure reconciliation between landing and fact tables.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SSIS Main Package: Repeatable ETL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ETL_Main.dtsx is the main submission package; ETL_DirectCSV.dtsx is demo-only.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745236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3_control_flow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9989"/>
            <a:ext cx="7452359" cy="403802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0" y="1280160"/>
            <a:ext cx="3200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4_connection_manag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300038"/>
            <a:ext cx="3200400" cy="10575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27432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CSV is loaded into SuperstoreDW.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Only the SuperstoreDW project connection is used for the main pipeline.</a:t>
            </a:r>
          </a:p>
          <a:p>
            <a:pPr>
              <a:spcAft>
                <a:spcPts val="600"/>
              </a:spcAft>
              <a:defRPr sz="1300">
                <a:solidFill>
                  <a:srgbClr val="111827"/>
                </a:solidFill>
                <a:latin typeface="Aptos"/>
              </a:defRPr>
            </a:pPr>
            <a:r>
              <a:t>The flow loads landing, dimensions, and FactSales in dependency 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SSIS Data Flows: Landing and Fact Loading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The design separates raw landing from the analytical fact table.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949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5_dft_load_csv_to_stg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6063"/>
            <a:ext cx="5394960" cy="300587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72200" y="1234440"/>
            <a:ext cx="5440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6_dft_load_fact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97261"/>
            <a:ext cx="5440680" cy="20634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705856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CSV to internal landing table: SuperstoreDW.dbo.stg_Orders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5705856"/>
            <a:ext cx="5440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Fact load resolves surrogate keys and writes analytical measures to FactSales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FactSales: Central Analytical Fact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FactSales is not a temporary table; it is the measurable core of the star schema.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589788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8_dsv_star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65" y="1234440"/>
            <a:ext cx="5606069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14630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  <a:latin typeface="Aptos"/>
              </a:defRPr>
            </a:pPr>
            <a:r>
              <a:t>FactSales stores order-line measures: Sales, Quantity, Discount, Profit, and DeliveryDays.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  <a:latin typeface="Aptos"/>
              </a:defRPr>
            </a:pPr>
            <a:r>
              <a:t>Dimensions answer analytical context: by product, customer, geography, date, and ship mode.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  <a:latin typeface="Aptos"/>
              </a:defRPr>
            </a:pPr>
            <a:r>
              <a:t>Measures should not be stored inside dimensions, because that would reduce flexibility and may cause double counting.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  <a:latin typeface="Aptos"/>
              </a:defRPr>
            </a:pPr>
            <a:r>
              <a:t>SSAS and Power BI both follow the same star-schema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SSAS Cube: Curated Analytical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The cube is deployed from SuperstoreDW and excludes the internal landing table.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16636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7_data_source_superstored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597" y="1234440"/>
            <a:ext cx="3765005" cy="21945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3703320"/>
            <a:ext cx="516636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9_cube_browser_sales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173" y="3703320"/>
            <a:ext cx="3537854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89320" y="150876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  <a:latin typeface="Aptos"/>
              </a:defRPr>
            </a:pPr>
            <a:r>
              <a:t>The SSAS data source points to SuperstoreDW.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  <a:latin typeface="Aptos"/>
              </a:defRPr>
            </a:pPr>
            <a:r>
              <a:t>The Data Source View uses FactSales and five dimensions.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  <a:latin typeface="Aptos"/>
              </a:defRPr>
            </a:pPr>
            <a:r>
              <a:t>Cube browsing confirms Sales and Profit can be aggregated by Product Category.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  <a:latin typeface="Aptos"/>
              </a:defRPr>
            </a:pPr>
            <a:r>
              <a:t>This layer supports MDX, Excel PivotTables, and cube browsing.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MDX Analysis: Analytical Queries on the Cube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MDX validates cube usability and demonstrates OLAP-style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9496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dx_q1_sales_profit_by_year_qu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666" y="1234440"/>
            <a:ext cx="3581467" cy="2240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72200" y="1234440"/>
            <a:ext cx="539496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dx_q3_top10_products_by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017" y="1234440"/>
            <a:ext cx="3761326" cy="2240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337560" y="3840480"/>
            <a:ext cx="539496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dx_q8_yoy_sales_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050" y="3840480"/>
            <a:ext cx="4123979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529584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Q1: Sales and Profit by Year/Quarter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529584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Q3: TOPCOUNT for Top 10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6053328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Q8: Year-over-Year growth using PARALLELPERIOD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Power BI Semantic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Power BI consumes SuperstoreDW analytical tables and preserves the warehouse star schema.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79476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0_powerbi_data_source_superstored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370" y="1234440"/>
            <a:ext cx="2491860" cy="18745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0" y="1234440"/>
            <a:ext cx="69951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1_powerbi_model_relationsh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825" y="1234440"/>
            <a:ext cx="6935509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474720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Source: SuperstoreDW.</a:t>
            </a:r>
          </a:p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FactSales is the central many-side table.</a:t>
            </a:r>
          </a:p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Dimension tables filter and slice the measures.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Power BI Reporting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Dashboards translate warehouse measures into business-facing insights.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949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2_powerbi_overview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1234440"/>
            <a:ext cx="4048125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72200" y="1234440"/>
            <a:ext cx="53949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3_powerbi_product_customer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953" y="1234440"/>
            <a:ext cx="4083454" cy="23317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337560" y="3886200"/>
            <a:ext cx="539496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4_powerbi_shipping_geography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839" y="3886200"/>
            <a:ext cx="3862402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63931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Overview KPIs and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63931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Product and customer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610819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Shipping and geography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Excel Pivot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Excel connects to the analytical layer for familiar PivotTable reporting.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566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3_Pivot_Categor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44358"/>
            <a:ext cx="3566160" cy="200352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97680" y="1234440"/>
            <a:ext cx="3566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4_Pivot_Segment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244358"/>
            <a:ext cx="3566160" cy="200352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92440" y="1234440"/>
            <a:ext cx="3566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6_Pivot_Calc_Meas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244358"/>
            <a:ext cx="3566160" cy="20035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394960"/>
            <a:ext cx="3566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Category and region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394960"/>
            <a:ext cx="3566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Segment by year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5394960"/>
            <a:ext cx="3566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Calculated measures in PivotTable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Data Mining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The data mining component adds predictive and behavioral insights beyond OLAP reporting.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4892040" cy="105156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Decision Tree Classification
Supervised rule discovery for Profit/Loss order 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4892040" cy="1051560"/>
          </a:xfrm>
          <a:prstGeom prst="roundRect">
            <a:avLst/>
          </a:prstGeom>
          <a:solidFill>
            <a:srgbClr val="FDF2F8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500" b="1">
                <a:solidFill>
                  <a:srgbClr val="111827"/>
                </a:solidFill>
                <a:latin typeface="Aptos"/>
              </a:rPr>
              <a:t>K-Means RFM Segmentation
Unsupervised customer grouping by Recency, Frequency, Monetary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10058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Decision Tree model: baseline accuracy 80.63%, test accuracy 94.40%, macro F1-score 90.33%.</a:t>
            </a:r>
          </a:p>
          <a:p>
            <a:pPr>
              <a:spcAft>
                <a:spcPts val="6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Random Forest benchmark accuracy is 94.28%, supporting the interpretable Decision Tree choice because the ensemble does not materially outperform the simpler model.</a:t>
            </a:r>
          </a:p>
          <a:p>
            <a:pPr>
              <a:spcAft>
                <a:spcPts val="6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K-Means uses k = 4 with Silhouette score 0.3554, indicating moderate but usable behavioral segmentation.</a:t>
            </a:r>
          </a:p>
          <a:p>
            <a:pPr>
              <a:spcAft>
                <a:spcPts val="6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The outputs are designed for decision support: risk review for discounts and differentiated customer strategies.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Decision Tree: Validated Loss-Risk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The strongest rule links high discounts to loss-making order lines.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45720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26_datamining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52622"/>
            <a:ext cx="4572000" cy="36784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394960" y="1234440"/>
            <a:ext cx="617220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29_datamining_loss_r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735471"/>
            <a:ext cx="6172200" cy="17868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32120" y="4343400"/>
            <a:ext cx="5806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Key rule: Discount &gt; 0.25 AND Category != Technology -&gt; Loss.</a:t>
            </a:r>
          </a:p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Test support: 318 records; precision: 99.37%.</a:t>
            </a:r>
          </a:p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Business action: review high discounts outside Technology before order approval.</a:t>
            </a:r>
          </a:p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The model should support human review rather than fully automate pricing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Business Interpretation of Decision Tree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The classification output is useful because it translates model behavior into operational discount control.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29000" cy="91440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400" b="1">
                <a:solidFill>
                  <a:srgbClr val="111827"/>
                </a:solidFill>
                <a:latin typeface="Aptos"/>
              </a:rPr>
              <a:t>Risk Detected
High discount outside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29000" cy="914400"/>
          </a:xfrm>
          <a:prstGeom prst="roundRect">
            <a:avLst/>
          </a:prstGeom>
          <a:solidFill>
            <a:srgbClr val="FFF7ED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400" b="1">
                <a:solidFill>
                  <a:srgbClr val="111827"/>
                </a:solidFill>
                <a:latin typeface="Aptos"/>
              </a:rPr>
              <a:t>Model Evidence
316 correct out of 318 test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325880"/>
            <a:ext cx="3429000" cy="91440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400" b="1">
                <a:solidFill>
                  <a:srgbClr val="111827"/>
                </a:solidFill>
                <a:latin typeface="Aptos"/>
              </a:rPr>
              <a:t>Business Response
Manager review before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51663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The confusion matrix shows 369 correctly detected loss-making order lines and 1,990 correctly detected profitable order lines.</a:t>
            </a:r>
          </a:p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The 115 missed losses indicate that the model is a risk-screening tool, not a complete profitability guarantee.</a:t>
            </a:r>
          </a:p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False positives are acceptable in this context because they mainly create additional review, while false negatives may allow margin leakage.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49377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The validated rule can be implemented as a simple policy: flag non-Technology orders when Discount exceeds 25%.</a:t>
            </a:r>
          </a:p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The insight supports category-aware discount governance rather than a single discount threshold for all products.</a:t>
            </a:r>
          </a:p>
          <a:p>
            <a:pPr>
              <a:spcAft>
                <a:spcPts val="600"/>
              </a:spcAft>
              <a:defRPr sz="1350">
                <a:solidFill>
                  <a:srgbClr val="111827"/>
                </a:solidFill>
                <a:latin typeface="Aptos"/>
              </a:defRPr>
            </a:pPr>
            <a:r>
              <a:t>The rule has high precision but partial coverage, so it should be combined with reporting and managerial judgement.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K-Means RFM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Four stable customer segments support differentiated marketing 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749039" cy="21488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30_datamining_elbow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22"/>
            <a:ext cx="3749039" cy="14172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80560" y="1234440"/>
            <a:ext cx="342900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31_datamining_rfm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424703"/>
            <a:ext cx="3429000" cy="187143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38160" y="1234440"/>
            <a:ext cx="342900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32_datamining_customer_seg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209773"/>
            <a:ext cx="3428999" cy="23012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493008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Elbow and Silhouette evidence for k =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8620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11827"/>
                </a:solidFill>
                <a:latin typeface="Aptos"/>
              </a:defRPr>
            </a:pPr>
            <a:r>
              <a:t>VIP / Champions: high monetary value.</a:t>
            </a:r>
          </a:p>
          <a:p>
            <a:pPr>
              <a:spcAft>
                <a:spcPts val="600"/>
              </a:spcAft>
              <a:defRPr sz="1150">
                <a:solidFill>
                  <a:srgbClr val="111827"/>
                </a:solidFill>
                <a:latin typeface="Aptos"/>
              </a:defRPr>
            </a:pPr>
            <a:r>
              <a:t>Trung thanh / Active: recent and frequent customers.</a:t>
            </a:r>
          </a:p>
          <a:p>
            <a:pPr>
              <a:spcAft>
                <a:spcPts val="600"/>
              </a:spcAft>
              <a:defRPr sz="1150">
                <a:solidFill>
                  <a:srgbClr val="111827"/>
                </a:solidFill>
                <a:latin typeface="Aptos"/>
              </a:defRPr>
            </a:pPr>
            <a:r>
              <a:t>Roi bo / Lost: high recency, selective win-back.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Business Strategy from RFM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RFM output becomes useful when each cluster is connected to a concrete business 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606040" cy="77724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VIP / Champions
64 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34440"/>
            <a:ext cx="2606040" cy="77724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Trung thanh / Active
298 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2606040" cy="777240"/>
          </a:xfrm>
          <a:prstGeom prst="roundRect">
            <a:avLst/>
          </a:prstGeom>
          <a:solidFill>
            <a:srgbClr val="FFF7ED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Pho thong / Trung binh
335 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234440"/>
            <a:ext cx="2606040" cy="777240"/>
          </a:xfrm>
          <a:prstGeom prst="roundRect">
            <a:avLst/>
          </a:prstGeom>
          <a:solidFill>
            <a:srgbClr val="FDF2F8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Roi bo / Lost
96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24231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11827"/>
                </a:solidFill>
                <a:latin typeface="Aptos"/>
              </a:defRPr>
            </a:pPr>
            <a:r>
              <a:t>Highest monetary value.</a:t>
            </a:r>
          </a:p>
          <a:p>
            <a:pPr>
              <a:spcAft>
                <a:spcPts val="600"/>
              </a:spcAft>
              <a:defRPr sz="1250">
                <a:solidFill>
                  <a:srgbClr val="111827"/>
                </a:solidFill>
                <a:latin typeface="Aptos"/>
              </a:defRPr>
            </a:pPr>
            <a:r>
              <a:t>Protect revenue through retention.</a:t>
            </a:r>
          </a:p>
          <a:p>
            <a:pPr>
              <a:spcAft>
                <a:spcPts val="600"/>
              </a:spcAft>
              <a:defRPr sz="1250">
                <a:solidFill>
                  <a:srgbClr val="111827"/>
                </a:solidFill>
                <a:latin typeface="Aptos"/>
              </a:defRPr>
            </a:pPr>
            <a:r>
              <a:t>Use loyalty benefits and premium offers.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31720"/>
            <a:ext cx="24231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11827"/>
                </a:solidFill>
                <a:latin typeface="Aptos"/>
              </a:defRPr>
            </a:pPr>
            <a:r>
              <a:t>Recent and frequent buyers.</a:t>
            </a:r>
          </a:p>
          <a:p>
            <a:pPr>
              <a:spcAft>
                <a:spcPts val="600"/>
              </a:spcAft>
              <a:defRPr sz="1250">
                <a:solidFill>
                  <a:srgbClr val="111827"/>
                </a:solidFill>
                <a:latin typeface="Aptos"/>
              </a:defRPr>
            </a:pPr>
            <a:r>
              <a:t>Increase basket value.</a:t>
            </a:r>
          </a:p>
          <a:p>
            <a:pPr>
              <a:spcAft>
                <a:spcPts val="600"/>
              </a:spcAft>
              <a:defRPr sz="1250">
                <a:solidFill>
                  <a:srgbClr val="111827"/>
                </a:solidFill>
                <a:latin typeface="Aptos"/>
              </a:defRPr>
            </a:pPr>
            <a:r>
              <a:t>Use cross-sell and category expansion.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24231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11827"/>
                </a:solidFill>
                <a:latin typeface="Aptos"/>
              </a:defRPr>
            </a:pPr>
            <a:r>
              <a:t>Largest average-value group.</a:t>
            </a:r>
          </a:p>
          <a:p>
            <a:pPr>
              <a:spcAft>
                <a:spcPts val="600"/>
              </a:spcAft>
              <a:defRPr sz="1250">
                <a:solidFill>
                  <a:srgbClr val="111827"/>
                </a:solidFill>
                <a:latin typeface="Aptos"/>
              </a:defRPr>
            </a:pPr>
            <a:r>
              <a:t>Small frequency gains can scale.</a:t>
            </a:r>
          </a:p>
          <a:p>
            <a:pPr>
              <a:spcAft>
                <a:spcPts val="600"/>
              </a:spcAft>
              <a:defRPr sz="1250">
                <a:solidFill>
                  <a:srgbClr val="111827"/>
                </a:solidFill>
                <a:latin typeface="Aptos"/>
              </a:defRPr>
            </a:pPr>
            <a:r>
              <a:t>Use targeted promotions and bundles.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331720"/>
            <a:ext cx="24231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11827"/>
                </a:solidFill>
                <a:latin typeface="Aptos"/>
              </a:defRPr>
            </a:pPr>
            <a:r>
              <a:t>Long inactive customers.</a:t>
            </a:r>
          </a:p>
          <a:p>
            <a:pPr>
              <a:spcAft>
                <a:spcPts val="600"/>
              </a:spcAft>
              <a:defRPr sz="1250">
                <a:solidFill>
                  <a:srgbClr val="111827"/>
                </a:solidFill>
                <a:latin typeface="Aptos"/>
              </a:defRPr>
            </a:pPr>
            <a:r>
              <a:t>Avoid expensive retention by default.</a:t>
            </a:r>
          </a:p>
          <a:p>
            <a:pPr>
              <a:spcAft>
                <a:spcPts val="600"/>
              </a:spcAft>
              <a:defRPr sz="1250">
                <a:solidFill>
                  <a:srgbClr val="111827"/>
                </a:solidFill>
                <a:latin typeface="Aptos"/>
              </a:defRPr>
            </a:pPr>
            <a:r>
              <a:t>Use low-cost win-back tests.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06440"/>
            <a:ext cx="10149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The Silhouette score of 0.3554 suggests moderate separation; therefore, the clusters should be used as decision-support segments, not rigid customer labels.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The BI solution supports operational reporting, OLAP analysis, and data mining interpretation.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The final submission pipeline uses SuperstoreDW as the main SQL Server database; no separate staging database is required.</a:t>
            </a:r>
          </a:p>
          <a:p>
            <a:pPr>
              <a:spcAft>
                <a:spcPts val="6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dbo.stg_Orders is an internal landing table for controlled ETL and reconciliation.</a:t>
            </a:r>
          </a:p>
          <a:p>
            <a:pPr>
              <a:spcAft>
                <a:spcPts val="6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FactSales is the central analytical fact table for Sales, Quantity, Discount, Profit, and DeliveryDays.</a:t>
            </a:r>
          </a:p>
          <a:p>
            <a:pPr>
              <a:spcAft>
                <a:spcPts val="6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SSAS, Power BI, Excel, and MDX all consume the curated star schema rather than raw landing data.</a:t>
            </a:r>
          </a:p>
          <a:p>
            <a:pPr>
              <a:spcAft>
                <a:spcPts val="6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Data mining shows that high discounting outside Technology is a strong loss-risk indicator.</a:t>
            </a:r>
          </a:p>
          <a:p>
            <a:pPr>
              <a:spcAft>
                <a:spcPts val="6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RFM segmentation identifies actionable customer groups for retention, cross-selling, and win-back campaigns.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84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Submission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4B5563"/>
                </a:solidFill>
                <a:latin typeface="Aptos"/>
              </a:rPr>
              <a:t>The source and evidence are aligned with the revised project requirement.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24128"/>
            <a:ext cx="1138428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4B5563"/>
                </a:solidFill>
                <a:latin typeface="Aptos"/>
              </a:rPr>
              <a:t>Superstore BI Final Project |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SQL scripts create SuperstoreDW, internal landing table, dimensions, DimDate, and FactSales.</a:t>
            </a:r>
          </a:p>
          <a:p>
            <a:pPr>
              <a:spcAft>
                <a:spcPts val="6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ETL_Main.dtsx is the main SSIS pipeline; ETL_DirectCSV.dtsx is retained only as a demo package.</a:t>
            </a:r>
          </a:p>
          <a:p>
            <a:pPr>
              <a:spcAft>
                <a:spcPts val="6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Verification confirms 9,994 rows in both stg_Orders and FactSales, matching Sales and Profit totals, with zero orphan keys.</a:t>
            </a:r>
          </a:p>
          <a:p>
            <a:pPr>
              <a:spcAft>
                <a:spcPts val="6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SSAS cube, Power BI report, Excel PivotTables, MDX queries, and data mining outputs are ready as report evidence.</a:t>
            </a:r>
          </a:p>
          <a:p>
            <a:pPr>
              <a:spcAft>
                <a:spcPts val="600"/>
              </a:spcAft>
              <a:defRPr sz="1600">
                <a:solidFill>
                  <a:srgbClr val="111827"/>
                </a:solidFill>
                <a:latin typeface="Aptos"/>
              </a:defRPr>
            </a:pPr>
            <a:r>
              <a:t>Recommended next work: final captioning, screenshot numbering, and export to PDF for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1468</Words>
  <Application>Microsoft Office PowerPoint</Application>
  <PresentationFormat>Widescreen</PresentationFormat>
  <Paragraphs>147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Võ Thành Danh</cp:lastModifiedBy>
  <cp:revision>2</cp:revision>
  <dcterms:created xsi:type="dcterms:W3CDTF">2013-01-27T09:14:16Z</dcterms:created>
  <dcterms:modified xsi:type="dcterms:W3CDTF">2026-07-05T11:40:57Z</dcterms:modified>
  <cp:category/>
</cp:coreProperties>
</file>